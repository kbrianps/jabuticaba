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c0f3f13-310d-c3a9-e837-26cc72bfbc2d}">
          <p14:sldIdLst>
            <p14:sldId id="256"/>
          </p14:sldIdLst>
        </p14:section>
        <p14:section name="Problema" id="{5cc7f1e6-7157-09e2-f220-e96f69e3b969}">
          <p14:sldIdLst>
            <p14:sldId id="257"/>
            <p14:sldId id="258"/>
          </p14:sldIdLst>
        </p14:section>
        <p14:section name="Solução" id="{b56834ea-92a5-c156-a5fe-2d3e60cf1a4a}">
          <p14:sldIdLst>
            <p14:sldId id="259"/>
            <p14:sldId id="260"/>
            <p14:sldId id="261"/>
            <p14:sldId id="262"/>
          </p14:sldIdLst>
        </p14:section>
        <p14:section name="Engenharia de prompt" id="{105babec-7bc2-039e-5e79-2fe00b5e2f92}">
          <p14:sldIdLst>
            <p14:sldId id="263"/>
            <p14:sldId id="264"/>
          </p14:sldIdLst>
        </p14:section>
        <p14:section name="Funcionando" id="{1538bd38-335c-d761-2602-7f18ecfa12fc}">
          <p14:sldIdLst>
            <p14:sldId id="265"/>
            <p14:sldId id="266"/>
          </p14:sldIdLst>
        </p14:section>
        <p14:section name="Avaliação" id="{132fee6d-faf8-a213-2dff-ae2f5b384061}">
          <p14:sldIdLst>
            <p14:sldId id="267"/>
            <p14:sldId id="268"/>
          </p14:sldIdLst>
        </p14:section>
        <p14:section name="Conclusão" id="{4e8ca780-edf4-7b36-a3f3-7364ee8511c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1D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1D5C"/>
                </a:solidFill>
                <a:latin typeface="+mn-lt"/>
              </a:rPr>
              <a:t>Tempo de resposta por teste (segundos)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8E3F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0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2.1</c:v>
                </c:pt>
                <c:pt idx="1">
                  <c:v>1.5</c:v>
                </c:pt>
                <c:pt idx="2">
                  <c:v>4.2</c:v>
                </c:pt>
                <c:pt idx="3">
                  <c:v>1.1</c:v>
                </c:pt>
                <c:pt idx="4">
                  <c:v>1.4</c:v>
                </c:pt>
                <c:pt idx="5">
                  <c:v>8</c:v>
                </c:pt>
                <c:pt idx="6">
                  <c:v>2.1</c:v>
                </c:pt>
                <c:pt idx="7">
                  <c:v>1.8</c:v>
                </c:pt>
                <c:pt idx="8">
                  <c:v>4.7</c:v>
                </c:pt>
                <c:pt idx="9">
                  <c:v>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A10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07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070"/>
                    </a:solidFill>
                    <a:latin typeface="Arial"/>
                  </a:rPr>
                  <a:t>Teste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DD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tema: um agente de IA que atende clientes de um salão de beleza por chat e marca horários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rect">
            <a:avLst/>
          </a:prstGeom>
          <a:solidFill>
            <a:schemeClr val="accent2">
              <a:alpha val="45000"/>
            </a:scheme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Salão Jabuticaba · ACSO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ACSO – ARQUITETURA E COMPUTAÇÃO DE SISTEMAS OPERACIONAIS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Jabu: agente autônomo de atendimento e agendamento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Uma IA que entende o que a cliente quer, indica o serviço e marca o horário no Google Agenda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Arthur André dos Santos Pravato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Técnico em Informática · Turma 1212 · Prof. Gilberto Gomes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FAETEC de Quintino · 24/10/2026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o WhatsApp do salão não para</a:t>
            </a:r>
            <a:endParaRPr lang="en-US" sz="2600" dirty="0"/>
          </a:p>
        </p:txBody>
      </p:sp>
      <p:sp>
        <p:nvSpPr>
          <p:cNvPr id="3" name="cartao"/>
          <p:cNvSpPr/>
          <p:nvPr/>
        </p:nvSpPr>
        <p:spPr>
          <a:xfrm>
            <a:off x="45720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marcador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Mensagens sem resposta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Quem responde é a cabeleireira, entre um atendimento e outro.</a:t>
            </a:r>
            <a:endParaRPr lang="en-US" sz="1200" dirty="0"/>
          </a:p>
        </p:txBody>
      </p:sp>
      <p:sp>
        <p:nvSpPr>
          <p:cNvPr id="8" name="cartao"/>
          <p:cNvSpPr/>
          <p:nvPr/>
        </p:nvSpPr>
        <p:spPr>
          <a:xfrm>
            <a:off x="324612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marcador"/>
          <p:cNvSpPr/>
          <p:nvPr/>
        </p:nvSpPr>
        <p:spPr>
          <a:xfrm>
            <a:off x="347472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Clientes desistem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Sem resposta rápida, a cliente marca em outro salão.</a:t>
            </a:r>
            <a:endParaRPr lang="en-US" sz="1200" dirty="0"/>
          </a:p>
        </p:txBody>
      </p:sp>
      <p:sp>
        <p:nvSpPr>
          <p:cNvPr id="13" name="cartao"/>
          <p:cNvSpPr/>
          <p:nvPr/>
        </p:nvSpPr>
        <p:spPr>
          <a:xfrm>
            <a:off x="603504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marcador"/>
          <p:cNvSpPr/>
          <p:nvPr/>
        </p:nvSpPr>
        <p:spPr>
          <a:xfrm>
            <a:off x="6263640" y="1371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Erros de encaixe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Um serviço de 3 horas marcado em um intervalo de 1 hora.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Escopo: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 salão fictício, 3 profissionais e 12 serviços. Fora do escopo: pagamento, cancelamento e remarcação.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O agente foi feito genérico: trocando só a configuração, atende uma barbearia ou um estúdio de unhas.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600" dirty="0"/>
          </a:p>
        </p:txBody>
      </p:sp>
      <p:sp>
        <p:nvSpPr>
          <p:cNvPr id="3" name="cartao"/>
          <p:cNvSpPr/>
          <p:nvPr/>
        </p:nvSpPr>
        <p:spPr>
          <a:xfrm>
            <a:off x="457200" y="1143000"/>
            <a:ext cx="3017520" cy="342900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OBJETIVO GERAL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Fazer o atendimento inicial e o agendamento do salão sem intervenção humana.</a:t>
            </a:r>
            <a:endParaRPr lang="en-US" sz="1800" dirty="0"/>
          </a:p>
        </p:txBody>
      </p:sp>
      <p:sp>
        <p:nvSpPr>
          <p:cNvPr id="6" name="marcador"/>
          <p:cNvSpPr/>
          <p:nvPr/>
        </p:nvSpPr>
        <p:spPr>
          <a:xfrm>
            <a:off x="3749040" y="11887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4904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1887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Identificar o serviço a partir da descrição da cliente</a:t>
            </a:r>
            <a:endParaRPr lang="en-US" sz="1300" dirty="0"/>
          </a:p>
        </p:txBody>
      </p:sp>
      <p:sp>
        <p:nvSpPr>
          <p:cNvPr id="9" name="marcador"/>
          <p:cNvSpPr/>
          <p:nvPr/>
        </p:nvSpPr>
        <p:spPr>
          <a:xfrm>
            <a:off x="3749040" y="16642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90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6642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Escolher a profissional e respeitar a duração</a:t>
            </a:r>
            <a:endParaRPr lang="en-US" sz="1300" dirty="0"/>
          </a:p>
        </p:txBody>
      </p:sp>
      <p:sp>
        <p:nvSpPr>
          <p:cNvPr id="12" name="marcador"/>
          <p:cNvSpPr/>
          <p:nvPr/>
        </p:nvSpPr>
        <p:spPr>
          <a:xfrm>
            <a:off x="3749040" y="213969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904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1396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Oferecer só horários livres da agenda real</a:t>
            </a:r>
            <a:endParaRPr lang="en-US" sz="1300" dirty="0"/>
          </a:p>
        </p:txBody>
      </p:sp>
      <p:sp>
        <p:nvSpPr>
          <p:cNvPr id="15" name="marcador"/>
          <p:cNvSpPr/>
          <p:nvPr/>
        </p:nvSpPr>
        <p:spPr>
          <a:xfrm>
            <a:off x="3749040" y="261518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4904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6151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Criar o evento e enviar o convite por e-mail</a:t>
            </a:r>
            <a:endParaRPr lang="en-US" sz="1300" dirty="0"/>
          </a:p>
        </p:txBody>
      </p:sp>
      <p:sp>
        <p:nvSpPr>
          <p:cNvPr id="18" name="marcador"/>
          <p:cNvSpPr/>
          <p:nvPr/>
        </p:nvSpPr>
        <p:spPr>
          <a:xfrm>
            <a:off x="3749040" y="30906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4904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309067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Responder dúvidas sem inventar preços</a:t>
            </a:r>
            <a:endParaRPr lang="en-US" sz="1300" dirty="0"/>
          </a:p>
        </p:txBody>
      </p:sp>
      <p:sp>
        <p:nvSpPr>
          <p:cNvPr id="21" name="marcador"/>
          <p:cNvSpPr/>
          <p:nvPr/>
        </p:nvSpPr>
        <p:spPr>
          <a:xfrm>
            <a:off x="3749040" y="35661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4904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5661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Exigir teste de alergia antes de química</a:t>
            </a:r>
            <a:endParaRPr lang="en-US" sz="1300" dirty="0"/>
          </a:p>
        </p:txBody>
      </p:sp>
      <p:sp>
        <p:nvSpPr>
          <p:cNvPr id="24" name="marcador"/>
          <p:cNvSpPr/>
          <p:nvPr/>
        </p:nvSpPr>
        <p:spPr>
          <a:xfrm>
            <a:off x="3749040" y="40416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4904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40416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Medir acerto, tempo e segurança dos dados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Pilha tecnológica</a:t>
            </a:r>
            <a:endParaRPr lang="en-US" sz="2600" dirty="0"/>
          </a:p>
        </p:txBody>
      </p:sp>
      <p:sp>
        <p:nvSpPr>
          <p:cNvPr id="3" name="cartao"/>
          <p:cNvSpPr/>
          <p:nvPr/>
        </p:nvSpPr>
        <p:spPr>
          <a:xfrm>
            <a:off x="457200" y="118872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ORQUESTRAÇÃO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Cloud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Nó pronto de agente com memória e ferramentas. Open-source: pode ir para servidor próprio.</a:t>
            </a:r>
            <a:endParaRPr lang="en-US" sz="1200" dirty="0"/>
          </a:p>
        </p:txBody>
      </p:sp>
      <p:sp>
        <p:nvSpPr>
          <p:cNvPr id="8" name="cartao"/>
          <p:cNvSpPr/>
          <p:nvPr/>
        </p:nvSpPr>
        <p:spPr>
          <a:xfrm>
            <a:off x="2560320" y="118872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0" y="1188720"/>
            <a:ext cx="19202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CÉREBRO (LLM)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7744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Modelo deepseek-flash: custa centavos e vai bem em português.</a:t>
            </a:r>
            <a:endParaRPr lang="en-US" sz="1200" dirty="0"/>
          </a:p>
        </p:txBody>
      </p:sp>
      <p:sp>
        <p:nvSpPr>
          <p:cNvPr id="13" name="cartao"/>
          <p:cNvSpPr/>
          <p:nvPr/>
        </p:nvSpPr>
        <p:spPr>
          <a:xfrm>
            <a:off x="4663440" y="118872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188720"/>
            <a:ext cx="1920240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FERRAMENTA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Agenda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37744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Grátis, consulta horários e envia o convite por e-mail sozinho.</a:t>
            </a:r>
            <a:endParaRPr lang="en-US" sz="1200" dirty="0"/>
          </a:p>
        </p:txBody>
      </p:sp>
      <p:sp>
        <p:nvSpPr>
          <p:cNvPr id="18" name="cartao"/>
          <p:cNvSpPr/>
          <p:nvPr/>
        </p:nvSpPr>
        <p:spPr>
          <a:xfrm>
            <a:off x="6766560" y="118872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1188720"/>
            <a:ext cx="1920240" cy="1097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INTERFACE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do n8n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37744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Simula o WhatsApp no MVP. Depois: Evolution API.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Abordagem: low-code com n8n</a:t>
            </a:r>
            <a:endParaRPr lang="en-US" sz="2600" dirty="0"/>
          </a:p>
        </p:txBody>
      </p:sp>
      <p:sp>
        <p:nvSpPr>
          <p:cNvPr id="3" name="cartao"/>
          <p:cNvSpPr/>
          <p:nvPr/>
        </p:nvSpPr>
        <p:spPr>
          <a:xfrm>
            <a:off x="45720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Agent Builder, Copilot Studio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+  Muito rápido, qualquer pessoa usa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–  Preso à plataforma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–  Geralmente pago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–  Dados ficam na big tech</a:t>
            </a:r>
            <a:endParaRPr lang="en-US" sz="1300" dirty="0"/>
          </a:p>
        </p:txBody>
      </p:sp>
      <p:sp>
        <p:nvSpPr>
          <p:cNvPr id="7" name="cartao"/>
          <p:cNvSpPr/>
          <p:nvPr/>
        </p:nvSpPr>
        <p:spPr>
          <a:xfrm>
            <a:off x="466344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Low-code (escolhido)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n8n, Flowise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031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+  Rápido e flexível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+  Integra com qualquer API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+  Pode rodar em servidor próprio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–  Exige noções de API, JSON e expressões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Por quê: monta o agente visualmente no prazo do trabalho e ainda aceita expressões e HTTP quando precisa.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operações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02336" y="1088136"/>
            <a:ext cx="8339328" cy="3195828"/>
          </a:xfrm>
          <a:prstGeom prst="roundRect">
            <a:avLst>
              <a:gd name="adj" fmla="val 17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mage 0" descr="dia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30861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 cliente escreve → o DeepSeek entende → o agente decide se responde, consulta ou cria → o n8n executa na agenda.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montado no n8n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02336" y="1545336"/>
            <a:ext cx="5596128" cy="2427925"/>
          </a:xfrm>
          <a:prstGeom prst="roundRect">
            <a:avLst>
              <a:gd name="adj" fmla="val 226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mage 0" descr="fluxo-n8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486400" cy="23181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63640" y="11430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Chat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recebe a mensagem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8013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Config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dados do negócio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4597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 Agent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monta o prompt e decide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31181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Memória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últimas 20 mensagens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377647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ver_agenda / criar_agendamento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ferramentas do Google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de prompt: como a Jabu pensa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Papel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09728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"Você é a Jabu, assistente virtual do Salão Jabuticaba."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105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a passo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81051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Nome → triagem → horários livres → e-mail → resumo → só cria depois do "sim".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23744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5237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Limites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52374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Não inventa serviço, preço ou horário. Não fala de outros assuntos. Não mostra agendamentos de outros clientes.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2369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Segurança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23697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Teste de alergia 48h antes da primeira química. Recusa química para quem já teve reação.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173736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9502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Saída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95020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Mensagens curtas como no WhatsApp e título padrão do evento.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conhecimento: uma configuração por negócio</a:t>
            </a:r>
            <a:endParaRPr lang="en-US" sz="2600" dirty="0"/>
          </a:p>
        </p:txBody>
      </p:sp>
      <p:sp>
        <p:nvSpPr>
          <p:cNvPr id="3" name="cartao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 Config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nome_negocio: Salão Jabuticaba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nome_assistente: Jabu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tom: simpático e acolhedor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base_conhecimento: 12 serviços, preços, durações, 3 profissionais, horário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regras_especificas: teste de alergia</a:t>
            </a:r>
            <a:endParaRPr lang="en-US" sz="1200" dirty="0"/>
          </a:p>
        </p:txBody>
      </p:sp>
      <p:sp>
        <p:nvSpPr>
          <p:cNvPr id="6" name="marcador"/>
          <p:cNvSpPr/>
          <p:nvPr/>
        </p:nvSpPr>
        <p:spPr>
          <a:xfrm>
            <a:off x="4663440" y="12344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1887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Evita alucinação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Preço e duração vêm de um texto confiável, não da memória do modelo.</a:t>
            </a:r>
            <a:endParaRPr lang="en-US" sz="1400" dirty="0"/>
          </a:p>
        </p:txBody>
      </p:sp>
      <p:sp>
        <p:nvSpPr>
          <p:cNvPr id="9" name="marcador"/>
          <p:cNvSpPr/>
          <p:nvPr/>
        </p:nvSpPr>
        <p:spPr>
          <a:xfrm>
            <a:off x="4663440" y="20574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0116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Fácil de mudar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 salão mudou um preço? Basta editar o Config.</a:t>
            </a:r>
            <a:endParaRPr lang="en-US" sz="1400" dirty="0"/>
          </a:p>
        </p:txBody>
      </p:sp>
      <p:sp>
        <p:nvSpPr>
          <p:cNvPr id="12" name="marcador"/>
          <p:cNvSpPr/>
          <p:nvPr/>
        </p:nvSpPr>
        <p:spPr>
          <a:xfrm>
            <a:off x="4663440" y="28803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8346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Vendável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Barbearia ou estúdio de unhas: o fluxo é o mesmo, só muda o Config.</a:t>
            </a:r>
            <a:endParaRPr lang="en-US" sz="1400" dirty="0"/>
          </a:p>
        </p:txBody>
      </p:sp>
      <p:sp>
        <p:nvSpPr>
          <p:cNvPr id="15" name="marcador"/>
          <p:cNvSpPr/>
          <p:nvPr/>
        </p:nvSpPr>
        <p:spPr>
          <a:xfrm>
            <a:off x="4663440" y="37033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6576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Próximo passo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 a base crescer, um RAG completo busca só os trechos relevantes.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conversa de verdade: mechas pela primeira vez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4114" y="996696"/>
            <a:ext cx="3758092" cy="3721608"/>
          </a:xfrm>
          <a:prstGeom prst="roundRect">
            <a:avLst>
              <a:gd name="adj" fmla="val 147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mage 0" descr="conversa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78" y="1051560"/>
            <a:ext cx="3648364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77564" y="996696"/>
            <a:ext cx="3086552" cy="3721608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1" descr="conversa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28" y="1051560"/>
            <a:ext cx="2976824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resultado no Google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02336" y="1042416"/>
            <a:ext cx="5779008" cy="3132647"/>
          </a:xfrm>
          <a:prstGeom prst="roundRect">
            <a:avLst>
              <a:gd name="adj" fmla="val 175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mage 0" descr="google-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669280" cy="30229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11887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O agente criou sozinho: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Evento com a duração certa do serviço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Título "Serviço - Profissional - Cliente"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Cliente como convidada: o Google envia o convite por e-mail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avaliação: 10 testes no chat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testes com o comportamento esperado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 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98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tempo médio por resposta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 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média quando usa a agenda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91840" y="10515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e refinamento: o que deu errado e como corrigi</a:t>
            </a:r>
            <a:endParaRPr lang="en-US" sz="2600" dirty="0"/>
          </a:p>
        </p:txBody>
      </p:sp>
      <p:sp>
        <p:nvSpPr>
          <p:cNvPr id="3" name="cartao"/>
          <p:cNvSpPr/>
          <p:nvPr/>
        </p:nvSpPr>
        <p:spPr>
          <a:xfrm>
            <a:off x="457200" y="109728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AJUSTE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Horário sobreposto e vazamento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Problema: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Ofereceu coloração às 10h com a profissional ocupada das 9h às 11h, e mostrou à cliente agendamentos de outras pessoas.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Correção: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Prompt com exemplo de como conferir o intervalo inteiro e regra de privacidade.</a:t>
            </a:r>
            <a:endParaRPr lang="en-US" sz="1200" dirty="0"/>
          </a:p>
        </p:txBody>
      </p:sp>
      <p:sp>
        <p:nvSpPr>
          <p:cNvPr id="7" name="cartao"/>
          <p:cNvSpPr/>
          <p:nvPr/>
        </p:nvSpPr>
        <p:spPr>
          <a:xfrm>
            <a:off x="4663440" y="109728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AJUSTE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 com sobreposição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Problema: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 teste 9, uma das opções (mechas às 13h) passava por cima de uma hidratação às 14h.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Correção: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Prompt pede para comparar cada opção, uma por uma, com os eventos do dia.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Segurança dos dados: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chaves só no gerenciador de credenciais do n8n, o agente só lê e cria eventos, pede só nome e e-mail (LGPD) e os testes usaram dados fictícios.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Chatbot só responde. Agente decide sozinho quando consultar a agenda e quando criar o evento.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Aprendizado: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IA conversa muito bem, mas pode errar contas de horário. A engenharia de prompt reduziu isso; calcular os horários livres por código resolve de vez.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PRÓXIMOS PASSOS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87452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WhatsApp real (Evolution API)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3520440"/>
            <a:ext cx="187452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Lembrete na véspera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520440"/>
            <a:ext cx="187452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Cancelar e remarcar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3520440"/>
            <a:ext cx="1874520" cy="822960"/>
          </a:xfrm>
          <a:prstGeom prst="roundRect">
            <a:avLst>
              <a:gd name="adj" fmla="val 8889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35204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Testar com salão de verdade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914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buticaba">
  <a:themeElements>
    <a:clrScheme name="Jabuticaba">
      <a:dk1>
        <a:srgbClr val="2A1033"/>
      </a:dk1>
      <a:lt1>
        <a:srgbClr val="FFFFFF"/>
      </a:lt1>
      <a:dk2>
        <a:srgbClr val="4A1D5C"/>
      </a:dk2>
      <a:lt2>
        <a:srgbClr val="F6F0F8"/>
      </a:lt2>
      <a:accent1>
        <a:srgbClr val="4A1D5C"/>
      </a:accent1>
      <a:accent2>
        <a:srgbClr val="8E3FA8"/>
      </a:accent2>
      <a:accent3>
        <a:srgbClr val="B2580F"/>
      </a:accent3>
      <a:accent4>
        <a:srgbClr val="2F7D4F"/>
      </a:accent4>
      <a:accent5>
        <a:srgbClr val="D9C6E0"/>
      </a:accent5>
      <a:accent6>
        <a:srgbClr val="6B6070"/>
      </a:accent6>
      <a:hlink>
        <a:srgbClr val="8E3FA8"/>
      </a:hlink>
      <a:folHlink>
        <a:srgbClr val="6B6070"/>
      </a:folHlink>
    </a:clrScheme>
    <a:fontScheme name="Jabuticab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autônomo de agendamento - Salão Jabuticaba</dc:title>
  <dc:subject>PptxGenJS Presentation</dc:subject>
  <dc:creator>Arthur André dos Santos Pravato</dc:creator>
  <cp:lastModifiedBy>Arthur André dos Santos Pravato</cp:lastModifiedBy>
  <cp:revision>1</cp:revision>
  <dcterms:created xsi:type="dcterms:W3CDTF">2026-10-22T14:08:03Z</dcterms:created>
  <dcterms:modified xsi:type="dcterms:W3CDTF">2026-10-22T14:08:03Z</dcterms:modified>
</cp:coreProperties>
</file>