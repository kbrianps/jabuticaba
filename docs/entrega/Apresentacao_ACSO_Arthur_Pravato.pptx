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9709502-0e45-c682-47fb-6d9c41246283}">
          <p14:sldIdLst>
            <p14:sldId id="256"/>
          </p14:sldIdLst>
        </p14:section>
        <p14:section name="Problema" id="{6bde8466-6ab3-6faf-55f2-176f23351527}">
          <p14:sldIdLst>
            <p14:sldId id="257"/>
            <p14:sldId id="258"/>
          </p14:sldIdLst>
        </p14:section>
        <p14:section name="Solução" id="{3fcf53a9-27e5-b855-712c-7260f05a5162}">
          <p14:sldIdLst>
            <p14:sldId id="259"/>
            <p14:sldId id="260"/>
            <p14:sldId id="261"/>
            <p14:sldId id="262"/>
          </p14:sldIdLst>
        </p14:section>
        <p14:section name="Engenharia de prompt" id="{cfd692b5-a195-6724-cde9-c39cc7b39660}">
          <p14:sldIdLst>
            <p14:sldId id="263"/>
            <p14:sldId id="264"/>
          </p14:sldIdLst>
        </p14:section>
        <p14:section name="Funcionando" id="{2545fa36-6e1f-d29b-10cd-19624fe3734d}">
          <p14:sldIdLst>
            <p14:sldId id="265"/>
            <p14:sldId id="266"/>
            <p14:sldId id="267"/>
          </p14:sldIdLst>
        </p14:section>
        <p14:section name="Avaliação" id="{281c4483-efec-8169-0502-71779c4d9bd4}">
          <p14:sldIdLst>
            <p14:sldId id="268"/>
            <p14:sldId id="269"/>
          </p14:sldIdLst>
        </p14:section>
        <p14:section name="Conclusão" id="{4e648f56-205c-b44d-3297-f0dbe1ea794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1D5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4A1D5C"/>
                </a:solidFill>
                <a:latin typeface="+mn-lt"/>
              </a:rPr>
              <a:t>Tempo de resposta por teste (segundos)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Tempo (s)</c:v>
                </c:pt>
              </c:strCache>
            </c:strRef>
          </c:tx>
          <c:spPr>
            <a:solidFill>
              <a:srgbClr val="8E3F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A10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2.1</c:v>
                </c:pt>
                <c:pt idx="1">
                  <c:v>1.5</c:v>
                </c:pt>
                <c:pt idx="2">
                  <c:v>4.2</c:v>
                </c:pt>
                <c:pt idx="3">
                  <c:v>1.1</c:v>
                </c:pt>
                <c:pt idx="4">
                  <c:v>1.4</c:v>
                </c:pt>
                <c:pt idx="5">
                  <c:v>8</c:v>
                </c:pt>
                <c:pt idx="6">
                  <c:v>2.1</c:v>
                </c:pt>
                <c:pt idx="7">
                  <c:v>1.8</c:v>
                </c:pt>
                <c:pt idx="8">
                  <c:v>4.7</c:v>
                </c:pt>
                <c:pt idx="9">
                  <c:v>3.9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2A10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607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B6070"/>
                    </a:solidFill>
                    <a:latin typeface="Arial"/>
                  </a:rPr>
                  <a:t>Teste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0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DD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0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tema: um agente de IA que atende clientes de um salão de beleza por chat e marca horários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097280"/>
            <a:ext cx="3840480" cy="3840480"/>
          </a:xfrm>
          <a:prstGeom prst="rect">
            <a:avLst/>
          </a:prstGeom>
          <a:solidFill>
            <a:schemeClr val="accent2">
              <a:alpha val="45000"/>
            </a:schemeClr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Salão Jabuticaba · ACSO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5"/>
                </a:solidFill>
              </a:rPr>
              <a:t>ACSO – ARQUITETURA E COMPUTAÇÃO DE SISTEMAS OPERACIONAIS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Jabu: agente autônomo de atendimento e agendamento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Uma IA que entende o que a cliente quer, indica o serviço e marca o horário no Google Agenda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033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Arthur André dos Santos Pravato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Técnico em Informática · Turma 1212 · Prof. Gilberto Gomes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FAETEC de Quintino · 24/10/2026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o WhatsApp do salão não para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8872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4" name="marcador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Mensagens sem resposta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Quem responde é a cabeleireira, entre um atendimento e outro.</a:t>
            </a:r>
            <a:endParaRPr lang="en-US" sz="1200" dirty="0"/>
          </a:p>
        </p:txBody>
      </p:sp>
      <p:sp>
        <p:nvSpPr>
          <p:cNvPr id="8" name="cartao"/>
          <p:cNvSpPr/>
          <p:nvPr/>
        </p:nvSpPr>
        <p:spPr>
          <a:xfrm>
            <a:off x="3246120" y="118872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9" name="marcador"/>
          <p:cNvSpPr/>
          <p:nvPr/>
        </p:nvSpPr>
        <p:spPr>
          <a:xfrm>
            <a:off x="3474720" y="13716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Clientes desistem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Sem resposta rápida, a cliente marca em outro salão.</a:t>
            </a:r>
            <a:endParaRPr lang="en-US" sz="1200" dirty="0"/>
          </a:p>
        </p:txBody>
      </p:sp>
      <p:sp>
        <p:nvSpPr>
          <p:cNvPr id="13" name="cartao"/>
          <p:cNvSpPr/>
          <p:nvPr/>
        </p:nvSpPr>
        <p:spPr>
          <a:xfrm>
            <a:off x="6035040" y="118872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4" name="marcador"/>
          <p:cNvSpPr/>
          <p:nvPr/>
        </p:nvSpPr>
        <p:spPr>
          <a:xfrm>
            <a:off x="6263640" y="13716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63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Erros de encaixe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Um serviço de 3 horas marcado em um intervalo de 1 hora.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Escopo: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um salão fictício, 3 profissionais e 12 serviços. Fora do escopo: pagamento, cancelamento e remarcação.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O agente foi feito genérico: trocando só a configuração, atende uma barbearia ou um estúdio de unhas.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43000"/>
            <a:ext cx="3017520" cy="342900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OBJETIVO GERAL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2560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Fazer o atendimento inicial e o agendamento do salão sem intervenção humana.</a:t>
            </a:r>
            <a:endParaRPr lang="en-US" sz="1800" dirty="0"/>
          </a:p>
        </p:txBody>
      </p:sp>
      <p:sp>
        <p:nvSpPr>
          <p:cNvPr id="6" name="marcador"/>
          <p:cNvSpPr/>
          <p:nvPr/>
        </p:nvSpPr>
        <p:spPr>
          <a:xfrm>
            <a:off x="3749040" y="1188720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74904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1188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Identificar o serviço a partir da descrição da cliente</a:t>
            </a:r>
            <a:endParaRPr lang="en-US" sz="1300" dirty="0"/>
          </a:p>
        </p:txBody>
      </p:sp>
      <p:sp>
        <p:nvSpPr>
          <p:cNvPr id="9" name="marcador"/>
          <p:cNvSpPr/>
          <p:nvPr/>
        </p:nvSpPr>
        <p:spPr>
          <a:xfrm>
            <a:off x="3749040" y="1664208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1664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6642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Escolher a profissional e respeitar a duração</a:t>
            </a:r>
            <a:endParaRPr lang="en-US" sz="1300" dirty="0"/>
          </a:p>
        </p:txBody>
      </p:sp>
      <p:sp>
        <p:nvSpPr>
          <p:cNvPr id="12" name="marcador"/>
          <p:cNvSpPr/>
          <p:nvPr/>
        </p:nvSpPr>
        <p:spPr>
          <a:xfrm>
            <a:off x="3749040" y="2139696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49040" y="2139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213969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Oferecer só horários livres da agenda real</a:t>
            </a:r>
            <a:endParaRPr lang="en-US" sz="1300" dirty="0"/>
          </a:p>
        </p:txBody>
      </p:sp>
      <p:sp>
        <p:nvSpPr>
          <p:cNvPr id="15" name="marcador"/>
          <p:cNvSpPr/>
          <p:nvPr/>
        </p:nvSpPr>
        <p:spPr>
          <a:xfrm>
            <a:off x="3749040" y="2615184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749040" y="2615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261518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Criar o evento e enviar o convite por e-mail</a:t>
            </a:r>
            <a:endParaRPr lang="en-US" sz="1300" dirty="0"/>
          </a:p>
        </p:txBody>
      </p:sp>
      <p:sp>
        <p:nvSpPr>
          <p:cNvPr id="18" name="marcador"/>
          <p:cNvSpPr/>
          <p:nvPr/>
        </p:nvSpPr>
        <p:spPr>
          <a:xfrm>
            <a:off x="3749040" y="3090672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749040" y="3090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206240" y="309067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Responder dúvidas sem inventar preços</a:t>
            </a:r>
            <a:endParaRPr lang="en-US" sz="1300" dirty="0"/>
          </a:p>
        </p:txBody>
      </p:sp>
      <p:sp>
        <p:nvSpPr>
          <p:cNvPr id="21" name="marcador"/>
          <p:cNvSpPr/>
          <p:nvPr/>
        </p:nvSpPr>
        <p:spPr>
          <a:xfrm>
            <a:off x="3749040" y="3566160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749040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206240" y="356616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Exigir teste de alergia antes de química</a:t>
            </a:r>
            <a:endParaRPr lang="en-US" sz="1300" dirty="0"/>
          </a:p>
        </p:txBody>
      </p:sp>
      <p:sp>
        <p:nvSpPr>
          <p:cNvPr id="24" name="marcador"/>
          <p:cNvSpPr/>
          <p:nvPr/>
        </p:nvSpPr>
        <p:spPr>
          <a:xfrm>
            <a:off x="3749040" y="4041648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74904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404164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Medir acerto, tempo e segurança dos dados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Pilha tecnológica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8872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1920240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ORQUESTRAÇÃO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n8n Cloud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Nó pronto de agente com memória e ferramentas. Open-source: pode ir para servidor próprio.</a:t>
            </a:r>
            <a:endParaRPr lang="en-US" sz="1200" dirty="0"/>
          </a:p>
        </p:txBody>
      </p:sp>
      <p:sp>
        <p:nvSpPr>
          <p:cNvPr id="8" name="cartao"/>
          <p:cNvSpPr/>
          <p:nvPr/>
        </p:nvSpPr>
        <p:spPr>
          <a:xfrm>
            <a:off x="2560320" y="118872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2560320" y="1188720"/>
            <a:ext cx="1920240" cy="10972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4320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CÉREBRO (LLM)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DeepSeek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37744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Modelo deepseek-flash: custa centavos e vai bem em português.</a:t>
            </a:r>
            <a:endParaRPr lang="en-US" sz="1200" dirty="0"/>
          </a:p>
        </p:txBody>
      </p:sp>
      <p:sp>
        <p:nvSpPr>
          <p:cNvPr id="13" name="cartao"/>
          <p:cNvSpPr/>
          <p:nvPr/>
        </p:nvSpPr>
        <p:spPr>
          <a:xfrm>
            <a:off x="4663440" y="118872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1920240" cy="1097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FERRAMENTA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Agenda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37744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Grátis, consulta horários e envia o convite por e-mail sozinho.</a:t>
            </a:r>
            <a:endParaRPr lang="en-US" sz="1200" dirty="0"/>
          </a:p>
        </p:txBody>
      </p:sp>
      <p:sp>
        <p:nvSpPr>
          <p:cNvPr id="18" name="cartao"/>
          <p:cNvSpPr/>
          <p:nvPr/>
        </p:nvSpPr>
        <p:spPr>
          <a:xfrm>
            <a:off x="6766560" y="118872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9" name="Shape 17"/>
          <p:cNvSpPr/>
          <p:nvPr/>
        </p:nvSpPr>
        <p:spPr>
          <a:xfrm>
            <a:off x="6766560" y="1188720"/>
            <a:ext cx="1920240" cy="1097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4944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INTERFACE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WhatsApp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37744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Evolution API liga um número real ao n8n. Nos testes, o chat do n8n.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Abordagem: low-code com n8n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4300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2F2F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No-code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Agent Builder, Copilot Studio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+  Muito rápido, qualquer pessoa usa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–  Preso à plataforma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–  Geralmente pago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–  Dados ficam na big tech</a:t>
            </a:r>
            <a:endParaRPr lang="en-US" sz="1300" dirty="0"/>
          </a:p>
        </p:txBody>
      </p:sp>
      <p:sp>
        <p:nvSpPr>
          <p:cNvPr id="7" name="cartao"/>
          <p:cNvSpPr/>
          <p:nvPr/>
        </p:nvSpPr>
        <p:spPr>
          <a:xfrm>
            <a:off x="4663440" y="1143000"/>
            <a:ext cx="402336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2801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Low-code (escolhido)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n8n, Flowise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10312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+  Rápido e flexível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+  Integra com qualquer API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+  Pode rodar em servidor próprio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–  Exige noções de API, JSON e expressões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Por quê: monta o agente visualmente no prazo do trabalho e ainda aceita expressões e HTTP quando precisa.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 de operações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02336" y="1088136"/>
            <a:ext cx="8339328" cy="3195828"/>
          </a:xfrm>
          <a:prstGeom prst="roundRect">
            <a:avLst>
              <a:gd name="adj" fmla="val 1717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dia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822960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 cliente escreve → o DeepSeek entende → o agente decide se responde, consulta ou cria → o n8n executa na agenda.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fluxo montado no n8n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02336" y="1545336"/>
            <a:ext cx="5596128" cy="2427925"/>
          </a:xfrm>
          <a:prstGeom prst="roundRect">
            <a:avLst>
              <a:gd name="adj" fmla="val 226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fluxo-n8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5486400" cy="231819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63640" y="11430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Chat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recebe a mensagem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80136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Config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dados do negócio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5973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AI Agent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monta o prompt e decide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3118104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Memória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últimas 20 mensagens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377647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ver_agenda / criar_agendamento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ferramentas do Google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Engenharia de prompt: como a Jabu pensa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Papel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097280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"Você é a Jabu, assistente virtual do Salão Jabuticaba."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10512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81051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Passo a passo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1810512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Nome → triagem → horários livres → e-mail → resumo → só cria depois do "sim".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523744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52374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Limites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523744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Não inventa serviço, preço ou horário. Não fala de outros assuntos. Não mostra agendamentos de outros clientes.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36976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23697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Segurança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3236976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Teste de alergia 48h antes da primeira química. Recusa química para quem já teve reação.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9502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Saída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3950208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Mensagens curtas como no WhatsApp e título padrão do evento.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conhecimento: uma configuração por negócio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43000"/>
            <a:ext cx="393192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Nó Config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nome_negocio: Salão Jabuticaba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nome_assistente: Jabu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tom: simpático e acolhedor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base_conhecimento: 12 serviços, preços, durações, 3 profissionais, horário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regras_especificas: teste de alergia</a:t>
            </a:r>
            <a:endParaRPr lang="en-US" sz="1200" dirty="0"/>
          </a:p>
        </p:txBody>
      </p:sp>
      <p:sp>
        <p:nvSpPr>
          <p:cNvPr id="6" name="marcador"/>
          <p:cNvSpPr/>
          <p:nvPr/>
        </p:nvSpPr>
        <p:spPr>
          <a:xfrm>
            <a:off x="4663440" y="123444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6344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Evita alucinação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Preço e duração vêm de um texto confiável, não da memória do modelo.</a:t>
            </a:r>
            <a:endParaRPr lang="en-US" sz="1400" dirty="0"/>
          </a:p>
        </p:txBody>
      </p:sp>
      <p:sp>
        <p:nvSpPr>
          <p:cNvPr id="9" name="marcador"/>
          <p:cNvSpPr/>
          <p:nvPr/>
        </p:nvSpPr>
        <p:spPr>
          <a:xfrm>
            <a:off x="4663440" y="205740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201168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Fácil de mudar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 salão mudou um preço? Basta editar o Config.</a:t>
            </a:r>
            <a:endParaRPr lang="en-US" sz="1400" dirty="0"/>
          </a:p>
        </p:txBody>
      </p:sp>
      <p:sp>
        <p:nvSpPr>
          <p:cNvPr id="12" name="marcador"/>
          <p:cNvSpPr/>
          <p:nvPr/>
        </p:nvSpPr>
        <p:spPr>
          <a:xfrm>
            <a:off x="4663440" y="28803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6344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283464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Vendável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Barbearia ou estúdio de unhas: o fluxo é o mesmo, só muda o Config.</a:t>
            </a:r>
            <a:endParaRPr lang="en-US" sz="1400" dirty="0"/>
          </a:p>
        </p:txBody>
      </p:sp>
      <p:sp>
        <p:nvSpPr>
          <p:cNvPr id="15" name="marcador"/>
          <p:cNvSpPr/>
          <p:nvPr/>
        </p:nvSpPr>
        <p:spPr>
          <a:xfrm>
            <a:off x="4663440" y="37033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6344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365760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Próximo passo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Se a base crescer, um RAG completo busca só os trechos relevantes.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conversa de verdade: mechas pela primeira vez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4114" y="996696"/>
            <a:ext cx="3758092" cy="3721608"/>
          </a:xfrm>
          <a:prstGeom prst="roundRect">
            <a:avLst>
              <a:gd name="adj" fmla="val 1474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conversa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78" y="1051560"/>
            <a:ext cx="3648364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77564" y="996696"/>
            <a:ext cx="3086552" cy="3721608"/>
          </a:xfrm>
          <a:prstGeom prst="roundRect">
            <a:avLst>
              <a:gd name="adj" fmla="val 177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Image 1" descr="conversa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2428" y="1051560"/>
            <a:ext cx="2976824" cy="3611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resultado no Google 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02336" y="1042416"/>
            <a:ext cx="5779008" cy="3132647"/>
          </a:xfrm>
          <a:prstGeom prst="roundRect">
            <a:avLst>
              <a:gd name="adj" fmla="val 175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google-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5669280" cy="302291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118872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O agente criou sozinho: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Evento com a duração certa do serviço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Título "Serviço - Profissional - Cliente"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Cliente como convidada: o Google envia o convite por e-mail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Agora pelo WhatsApp de verdade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164336" y="996696"/>
            <a:ext cx="6815328" cy="2624328"/>
          </a:xfrm>
          <a:prstGeom prst="roundRect">
            <a:avLst>
              <a:gd name="adj" fmla="val 209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whats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200" y="1051560"/>
            <a:ext cx="6705600" cy="2514600"/>
          </a:xfrm>
          <a:prstGeom prst="rect">
            <a:avLst/>
          </a:prstGeom>
        </p:spPr>
      </p:pic>
      <p:sp>
        <p:nvSpPr>
          <p:cNvPr id="5" name="marcador"/>
          <p:cNvSpPr/>
          <p:nvPr/>
        </p:nvSpPr>
        <p:spPr>
          <a:xfrm>
            <a:off x="457200" y="3977640"/>
            <a:ext cx="365760" cy="36576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886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Evolution API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Roda no PC com Docker e liga o número pelo QR Code.</a:t>
            </a:r>
            <a:endParaRPr lang="en-US" sz="1300" dirty="0"/>
          </a:p>
        </p:txBody>
      </p:sp>
      <p:sp>
        <p:nvSpPr>
          <p:cNvPr id="8" name="marcador"/>
          <p:cNvSpPr/>
          <p:nvPr/>
        </p:nvSpPr>
        <p:spPr>
          <a:xfrm>
            <a:off x="3246120" y="3977640"/>
            <a:ext cx="365760" cy="36576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24612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03320" y="3886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Mesmo agente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Mesmo prompt, base e agenda. A memória é separada por número.</a:t>
            </a:r>
            <a:endParaRPr lang="en-US" sz="1300" dirty="0"/>
          </a:p>
        </p:txBody>
      </p:sp>
      <p:sp>
        <p:nvSpPr>
          <p:cNvPr id="11" name="marcador"/>
          <p:cNvSpPr/>
          <p:nvPr/>
        </p:nvSpPr>
        <p:spPr>
          <a:xfrm>
            <a:off x="6035040" y="3977640"/>
            <a:ext cx="365760" cy="36576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3504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3886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Testado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11 mensagens, todas respondidas em cerca de 3 s, com evento criado na agenda.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Camada de avaliação: 10 testes no chat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10/10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55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testes com o comportamento esperado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2402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3,1 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898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tempo médio por resposta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832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5,2 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041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média quando usa a agenda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291840" y="1051560"/>
          <a:ext cx="5394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 e refinamento: o que deu errado e como corrigi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097280"/>
            <a:ext cx="4023360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AJUSTE 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Horário sobreposto e vazamento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66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</a:rPr>
              <a:t>Problema: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Ofereceu coloração às 10h com a profissional ocupada das 9h às 11h, e mostrou à cliente agendamentos de outras pessoas.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Correção: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Prompt com exemplo de como conferir o intervalo inteiro e regra de privacidade.</a:t>
            </a:r>
            <a:endParaRPr lang="en-US" sz="1200" dirty="0"/>
          </a:p>
        </p:txBody>
      </p:sp>
      <p:sp>
        <p:nvSpPr>
          <p:cNvPr id="7" name="cartao"/>
          <p:cNvSpPr/>
          <p:nvPr/>
        </p:nvSpPr>
        <p:spPr>
          <a:xfrm>
            <a:off x="4663440" y="1097280"/>
            <a:ext cx="4023360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234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AJUSTE 2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Alternativa com sobreposição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566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</a:rPr>
              <a:t>Problema: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No teste 9, uma das opções (mechas às 13h) passava por cima de uma hidratação às 14h.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Correção: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Prompt pede para comparar cada opção, uma por uma, com os eventos do dia.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Segurança dos dados: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chaves só no gerenciador de credenciais do n8n, o agente só lê e cria eventos, pede só nome e e-mail (LGPD) e os testes usaram dados fictícios.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Chatbot só responde. Agente decide sozinho quando consultar a agenda e quando criar o evento.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Aprendizado: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 IA conversa muito bem, mas pode errar contas de horário. A engenharia de prompt reduziu isso; calcular os horários livres por código resolve de vez.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54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PRÓXIMOS PASSOS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3520440"/>
            <a:ext cx="187452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3520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Servidor com endereço fixo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3520440"/>
            <a:ext cx="187452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51760" y="3520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Lembrete na véspera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3520440"/>
            <a:ext cx="187452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3520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Cancelar e remarcar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0" y="3520440"/>
            <a:ext cx="187452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0" y="3520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Testar com salão de verdade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9144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abuticaba">
  <a:themeElements>
    <a:clrScheme name="Jabuticaba">
      <a:dk1>
        <a:srgbClr val="2A1033"/>
      </a:dk1>
      <a:lt1>
        <a:srgbClr val="FFFFFF"/>
      </a:lt1>
      <a:dk2>
        <a:srgbClr val="4A1D5C"/>
      </a:dk2>
      <a:lt2>
        <a:srgbClr val="F6F0F8"/>
      </a:lt2>
      <a:accent1>
        <a:srgbClr val="4A1D5C"/>
      </a:accent1>
      <a:accent2>
        <a:srgbClr val="8E3FA8"/>
      </a:accent2>
      <a:accent3>
        <a:srgbClr val="B2580F"/>
      </a:accent3>
      <a:accent4>
        <a:srgbClr val="2F7D4F"/>
      </a:accent4>
      <a:accent5>
        <a:srgbClr val="D9C6E0"/>
      </a:accent5>
      <a:accent6>
        <a:srgbClr val="6B6070"/>
      </a:accent6>
      <a:hlink>
        <a:srgbClr val="8E3FA8"/>
      </a:hlink>
      <a:folHlink>
        <a:srgbClr val="6B6070"/>
      </a:folHlink>
    </a:clrScheme>
    <a:fontScheme name="Jabuticab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 autônomo de agendamento - Salão Jabuticaba</dc:title>
  <dc:subject>PptxGenJS Presentation</dc:subject>
  <dc:creator>Arthur André dos Santos Pravato</dc:creator>
  <cp:lastModifiedBy>Arthur André dos Santos Pravato</cp:lastModifiedBy>
  <cp:revision>1</cp:revision>
  <dcterms:created xsi:type="dcterms:W3CDTF">2026-10-22T15:51:02Z</dcterms:created>
  <dcterms:modified xsi:type="dcterms:W3CDTF">2026-10-22T15:51:02Z</dcterms:modified>
</cp:coreProperties>
</file>